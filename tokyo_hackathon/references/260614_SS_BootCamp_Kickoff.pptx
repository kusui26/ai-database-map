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0287000" cx="18288000"/>
  <p:notesSz cx="10287000" cy="18288000"/>
  <p:embeddedFontLst>
    <p:embeddedFont>
      <p:font typeface="Noto Sans JP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pUHtgmeIGCAim7K+GEPGbzOAq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otoSansJP-bold.fntdata"/><Relationship Id="rId16" Type="http://schemas.openxmlformats.org/officeDocument/2006/relationships/font" Target="fonts/NotoSansJP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ab6f80eb6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g3eab6f80eb6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eab6f80eb6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ce0054ac0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ece0054ac0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ece0054ac0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ece0054ac0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ece0054ac0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ece0054ac0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ce0054ac0_0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ece0054ac0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ece0054ac0_0_2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ce0054ac0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ce0054ac0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ce0054ac0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a0a7af66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ea0a7af66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a0a7af66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a0a7af665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a0a7af665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a0a7af665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e0054ac0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ce0054ac0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ce0054ac0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ce0054ac0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ece0054ac0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ce0054ac0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ce0054ac0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ece0054ac0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ce0054ac0_0_1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ce0054ac0_0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ece0054ac0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ce0054ac0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625" lIns="167625" spcFirstLastPara="1" rIns="167625" wrap="square" tIns="167625">
            <a:noAutofit/>
          </a:bodyPr>
          <a:lstStyle>
            <a:lvl1pPr lvl="0" algn="r">
              <a:buNone/>
              <a:defRPr sz="2400">
                <a:solidFill>
                  <a:schemeClr val="tx1"/>
                </a:solidFill>
              </a:defRPr>
            </a:lvl1pPr>
            <a:lvl2pPr lvl="1" algn="r">
              <a:buNone/>
              <a:defRPr sz="2400">
                <a:solidFill>
                  <a:schemeClr val="tx1"/>
                </a:solidFill>
              </a:defRPr>
            </a:lvl2pPr>
            <a:lvl3pPr lvl="2" algn="r">
              <a:buNone/>
              <a:defRPr sz="2400">
                <a:solidFill>
                  <a:schemeClr val="tx1"/>
                </a:solidFill>
              </a:defRPr>
            </a:lvl3pPr>
            <a:lvl4pPr lvl="3" algn="r">
              <a:buNone/>
              <a:defRPr sz="2400">
                <a:solidFill>
                  <a:schemeClr val="tx1"/>
                </a:solidFill>
              </a:defRPr>
            </a:lvl4pPr>
            <a:lvl5pPr lvl="4" algn="r">
              <a:buNone/>
              <a:defRPr sz="2400">
                <a:solidFill>
                  <a:schemeClr val="tx1"/>
                </a:solidFill>
              </a:defRPr>
            </a:lvl5pPr>
            <a:lvl6pPr lvl="5" algn="r">
              <a:buNone/>
              <a:defRPr sz="2400">
                <a:solidFill>
                  <a:schemeClr val="tx1"/>
                </a:solidFill>
              </a:defRPr>
            </a:lvl6pPr>
            <a:lvl7pPr lvl="6" algn="r">
              <a:buNone/>
              <a:defRPr sz="2400">
                <a:solidFill>
                  <a:schemeClr val="tx1"/>
                </a:solidFill>
              </a:defRPr>
            </a:lvl7pPr>
            <a:lvl8pPr lvl="7" algn="r">
              <a:buNone/>
              <a:defRPr sz="2400">
                <a:solidFill>
                  <a:schemeClr val="tx1"/>
                </a:solidFill>
              </a:defRPr>
            </a:lvl8pPr>
            <a:lvl9pPr lvl="8" algn="r">
              <a:buNone/>
              <a:defRPr sz="24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lftp.mlit.go.jp/ksj/" TargetMode="External"/><Relationship Id="rId4" Type="http://schemas.openxmlformats.org/officeDocument/2006/relationships/hyperlink" Target="https://www.e-stat.go.jp/gis" TargetMode="External"/><Relationship Id="rId5" Type="http://schemas.openxmlformats.org/officeDocument/2006/relationships/hyperlink" Target="https://ckan.odpt.org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ab6f80eb6_0_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eab6f80eb6_0_19"/>
          <p:cNvSpPr/>
          <p:nvPr/>
        </p:nvSpPr>
        <p:spPr>
          <a:xfrm>
            <a:off x="5548350" y="3479675"/>
            <a:ext cx="71913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Singularity Society</a:t>
            </a:r>
            <a:endParaRPr sz="4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" name="Google Shape;20;g3eab6f80eb6_0_19"/>
          <p:cNvSpPr/>
          <p:nvPr/>
        </p:nvSpPr>
        <p:spPr>
          <a:xfrm>
            <a:off x="13360875" y="9201300"/>
            <a:ext cx="3752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2026/6/14</a:t>
            </a:r>
            <a:endParaRPr sz="36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1" name="Google Shape;21;g3eab6f80eb6_0_19"/>
          <p:cNvSpPr/>
          <p:nvPr/>
        </p:nvSpPr>
        <p:spPr>
          <a:xfrm>
            <a:off x="5494650" y="7935564"/>
            <a:ext cx="7298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臼井 健祐 (Usui Kensuke)</a:t>
            </a:r>
            <a:endParaRPr sz="40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" name="Google Shape;22;g3eab6f80eb6_0_19"/>
          <p:cNvSpPr/>
          <p:nvPr/>
        </p:nvSpPr>
        <p:spPr>
          <a:xfrm>
            <a:off x="5822400" y="4749750"/>
            <a:ext cx="66432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BootCamp 4th Kickoff</a:t>
            </a:r>
            <a:endParaRPr sz="4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ce0054ac0_0_11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ece0054ac0_0_116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INTRODUCTION</a:t>
            </a:r>
            <a:endParaRPr b="1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" name="Google Shape;30;g3ece0054ac0_0_116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自己紹介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1" name="Google Shape;31;g3ece0054ac0_0_116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ece0054ac0_0_116"/>
          <p:cNvSpPr/>
          <p:nvPr/>
        </p:nvSpPr>
        <p:spPr>
          <a:xfrm>
            <a:off x="1047750" y="2904325"/>
            <a:ext cx="9473100" cy="5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初参加・個人参加（BootCamp / Vibe Coding）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鉄道業界で約１０年 / 非エンジニア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新幹線・在来線特急列車の需要予測モデルの開発・運用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データ分析 / 業務効率化 / RAGチャットボットの開発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Python（+ Vue.js / Node.js）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Kaggle / Signate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家族４人（娘２人）/ 神奈川県横浜市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" name="Google Shape;33;g3ece0054ac0_0_116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ece0054ac0_0_11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g3ece0054ac0_0_116" title="IMG_534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6650" y="3063000"/>
            <a:ext cx="7378052" cy="4161000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5400000" dist="285750">
              <a:srgbClr val="0B3D91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ce0054ac0_0_13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ece0054ac0_0_139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PRODUCT</a:t>
            </a:r>
            <a:endParaRPr b="1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" name="Google Shape;43;g3ece0054ac0_0_139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作りたい物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" name="Google Shape;44;g3ece0054ac0_0_139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ece0054ac0_0_139"/>
          <p:cNvSpPr/>
          <p:nvPr/>
        </p:nvSpPr>
        <p:spPr>
          <a:xfrm>
            <a:off x="1047750" y="2904325"/>
            <a:ext cx="94731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個人開発したWebアプリ「Station Area Database Map」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6" name="Google Shape;46;g3ece0054ac0_0_139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ece0054ac0_0_13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g3ece0054ac0_0_139"/>
          <p:cNvSpPr/>
          <p:nvPr/>
        </p:nvSpPr>
        <p:spPr>
          <a:xfrm>
            <a:off x="1047750" y="9641672"/>
            <a:ext cx="4400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87A"/>
              </a:buClr>
              <a:buSzPts val="1725"/>
              <a:buFont typeface="Courier New"/>
              <a:buNone/>
            </a:pPr>
            <a:r>
              <a:rPr b="1" i="0" lang="en-US" sz="2025" u="none" cap="none" strike="noStrike">
                <a:solidFill>
                  <a:srgbClr val="46587A"/>
                </a:solidFill>
                <a:latin typeface="Noto Sans JP"/>
                <a:ea typeface="Noto Sans JP"/>
                <a:cs typeface="Noto Sans JP"/>
                <a:sym typeface="Noto Sans JP"/>
              </a:rPr>
              <a:t>Station Area Database Map</a:t>
            </a:r>
            <a:endParaRPr b="1" i="0" sz="20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descr="グラフ, マップ&#10;&#10;自動的に生成された説明" id="49" name="Google Shape;49;g3ece0054ac0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8393" y="3628605"/>
            <a:ext cx="8028611" cy="3936238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5400000" dist="285750">
              <a:srgbClr val="0B3D91">
                <a:alpha val="40000"/>
              </a:srgbClr>
            </a:outerShdw>
          </a:effectLst>
        </p:spPr>
      </p:pic>
      <p:sp>
        <p:nvSpPr>
          <p:cNvPr id="50" name="Google Shape;50;g3ece0054ac0_0_139"/>
          <p:cNvSpPr/>
          <p:nvPr/>
        </p:nvSpPr>
        <p:spPr>
          <a:xfrm rot="10800000">
            <a:off x="4654380" y="3853166"/>
            <a:ext cx="1688400" cy="678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85750">
              <a:srgbClr val="0B3D91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ece0054ac0_0_139"/>
          <p:cNvSpPr/>
          <p:nvPr/>
        </p:nvSpPr>
        <p:spPr>
          <a:xfrm>
            <a:off x="2255725" y="4995025"/>
            <a:ext cx="6485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AIネイティブ</a:t>
            </a:r>
            <a:r>
              <a:rPr lang="en-US" sz="2800" u="sng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なアプリに進化させたい</a:t>
            </a:r>
            <a:endParaRPr sz="2800" u="sng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" name="Google Shape;52;g3ece0054ac0_0_139"/>
          <p:cNvSpPr txBox="1"/>
          <p:nvPr/>
        </p:nvSpPr>
        <p:spPr>
          <a:xfrm>
            <a:off x="7858150" y="8884705"/>
            <a:ext cx="1026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MS PGothic"/>
                <a:ea typeface="MS PGothic"/>
                <a:cs typeface="MS PGothic"/>
                <a:sym typeface="MS PGothic"/>
              </a:rPr>
              <a:t>https://station-area-database-map-e3cf888068c6.herokuapp.com</a:t>
            </a:r>
            <a:endParaRPr sz="2400">
              <a:solidFill>
                <a:srgbClr val="000000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  <p:sp>
        <p:nvSpPr>
          <p:cNvPr id="53" name="Google Shape;53;g3ece0054ac0_0_139"/>
          <p:cNvSpPr/>
          <p:nvPr/>
        </p:nvSpPr>
        <p:spPr>
          <a:xfrm>
            <a:off x="2751439" y="6745813"/>
            <a:ext cx="64857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中島聡さんのメルマガ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SingularitySociety BootCamp #4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4" name="Google Shape;54;g3ece0054ac0_0_139"/>
          <p:cNvSpPr/>
          <p:nvPr/>
        </p:nvSpPr>
        <p:spPr>
          <a:xfrm>
            <a:off x="2255725" y="5946825"/>
            <a:ext cx="6485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■ きっかけ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5" name="Google Shape;55;g3ece0054ac0_0_139"/>
          <p:cNvSpPr/>
          <p:nvPr/>
        </p:nvSpPr>
        <p:spPr>
          <a:xfrm>
            <a:off x="9753452" y="7902336"/>
            <a:ext cx="84003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駅周辺のオープンデータ（乗降客数、人口、地価等）を</a:t>
            </a:r>
            <a:endParaRPr sz="26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可視化した「データベース×マップ」のWebアプリ</a:t>
            </a:r>
            <a:endParaRPr sz="26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e0054ac0_0_24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ce0054ac0_0_246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DATA</a:t>
            </a:r>
            <a:endParaRPr b="1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3" name="Google Shape;63;g3ece0054ac0_0_246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使用オープンデータ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4" name="Google Shape;64;g3ece0054ac0_0_246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ece0054ac0_0_246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ece0054ac0_0_24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ece0054ac0_0_246"/>
          <p:cNvSpPr/>
          <p:nvPr/>
        </p:nvSpPr>
        <p:spPr>
          <a:xfrm>
            <a:off x="1047750" y="9641672"/>
            <a:ext cx="4400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87A"/>
              </a:buClr>
              <a:buSzPts val="1725"/>
              <a:buFont typeface="Courier New"/>
              <a:buNone/>
            </a:pPr>
            <a:r>
              <a:rPr b="1" i="0" lang="en-US" sz="2025" u="none" cap="none" strike="noStrike">
                <a:solidFill>
                  <a:srgbClr val="46587A"/>
                </a:solidFill>
                <a:latin typeface="Noto Sans JP"/>
                <a:ea typeface="Noto Sans JP"/>
                <a:cs typeface="Noto Sans JP"/>
                <a:sym typeface="Noto Sans JP"/>
              </a:rPr>
              <a:t>Station Area Database Map</a:t>
            </a:r>
            <a:endParaRPr b="1" i="0" sz="20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8" name="Google Shape;68;g3ece0054ac0_0_246"/>
          <p:cNvSpPr txBox="1"/>
          <p:nvPr/>
        </p:nvSpPr>
        <p:spPr>
          <a:xfrm>
            <a:off x="1077614" y="2224175"/>
            <a:ext cx="16678200" cy="7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0" marL="28575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●"/>
            </a:pPr>
            <a:r>
              <a:rPr b="1" lang="en-US" sz="1900">
                <a:solidFill>
                  <a:srgbClr val="FF0000"/>
                </a:solidFill>
                <a:latin typeface="Noto Sans JP"/>
                <a:ea typeface="Noto Sans JP"/>
                <a:cs typeface="Noto Sans JP"/>
                <a:sym typeface="Noto Sans JP"/>
              </a:rPr>
              <a:t>国土数値情報</a:t>
            </a: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：</a:t>
            </a:r>
            <a:r>
              <a:rPr lang="en-US" sz="1900" u="sng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https://nlftp.mlit.go.jp/ksj/</a:t>
            </a:r>
            <a:endParaRPr sz="190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駅別乗降客数（2022年度）</a:t>
            </a:r>
            <a:endParaRPr sz="190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鉄道時系列（2023年度）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地価公示（2024年度）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バス停留所データ（2022年度/2010年度）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高速バス停留所データ（2023年度）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- 1km別メッシュ将来推計人口データ（2018年度）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292100" lvl="0" marL="28575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●"/>
            </a:pPr>
            <a:r>
              <a:rPr b="1" lang="en-US" sz="1900">
                <a:solidFill>
                  <a:srgbClr val="FF0000"/>
                </a:solidFill>
                <a:latin typeface="Noto Sans JP"/>
                <a:ea typeface="Noto Sans JP"/>
                <a:cs typeface="Noto Sans JP"/>
                <a:sym typeface="Noto Sans JP"/>
              </a:rPr>
              <a:t>政府統計の総合窓口（e-Stat）_統計地理情報システム</a:t>
            </a: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：</a:t>
            </a:r>
            <a:r>
              <a:rPr lang="en-US" sz="1900" u="sng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https://www.e-stat.go.jp/gis</a:t>
            </a:r>
            <a:endParaRPr sz="190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国勢調査_3次メッシュ_人口及び世帯（2020年/2015年）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経済センサス_活動調査_3次メッシュ_事業所数及び従業者数（2021年/2016年）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境界データ_3次メッシュ</a:t>
            </a:r>
            <a:endParaRPr sz="190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292100" lvl="0" marL="28575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●"/>
            </a:pPr>
            <a:r>
              <a:rPr b="1" lang="en-US" sz="1900">
                <a:solidFill>
                  <a:srgbClr val="FF0000"/>
                </a:solidFill>
                <a:latin typeface="Noto Sans JP"/>
                <a:ea typeface="Noto Sans JP"/>
                <a:cs typeface="Noto Sans JP"/>
                <a:sym typeface="Noto Sans JP"/>
              </a:rPr>
              <a:t>公共交通オープンデータセンター</a:t>
            </a: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：</a:t>
            </a:r>
            <a:r>
              <a:rPr lang="en-US" sz="1900" u="sng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https://ckan.odpt.org/</a:t>
            </a:r>
            <a:endParaRPr sz="1900">
              <a:solidFill>
                <a:srgbClr val="FF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乗降者数情報-passenger_survey：JR東日本/東武鉄道/東急電鉄/西武鉄道/京急電鉄/小田急電鉄/首都圏都市鉄道/東京臨海高速鉄道/横浜市交通局/</a:t>
            </a:r>
            <a:endParaRPr sz="190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Noto Sans JP"/>
                <a:ea typeface="Noto Sans JP"/>
                <a:cs typeface="Noto Sans JP"/>
                <a:sym typeface="Noto Sans JP"/>
              </a:rPr>
              <a:t>     </a:t>
            </a: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多摩都市モノレール/東京都交通局/東京メトロ/相模鉄道/京王電鉄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   - 駅情報-station_information：JR東日本/東武鉄道/東急電鉄/西武鉄道/京急電鉄/小田急電鉄/首都圏都市鉄道/東京臨海高速鉄道/横浜市交通局/</a:t>
            </a:r>
            <a:endParaRPr sz="190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Noto Sans JP"/>
                <a:ea typeface="Noto Sans JP"/>
                <a:cs typeface="Noto Sans JP"/>
                <a:sym typeface="Noto Sans JP"/>
              </a:rPr>
              <a:t>     </a:t>
            </a:r>
            <a:r>
              <a:rPr lang="en-US" sz="1900">
                <a:solidFill>
                  <a:srgbClr val="000000"/>
                </a:solidFill>
                <a:latin typeface="Noto Sans JP"/>
                <a:ea typeface="Noto Sans JP"/>
                <a:cs typeface="Noto Sans JP"/>
                <a:sym typeface="Noto Sans JP"/>
              </a:rPr>
              <a:t>多摩都市モノレール/東京都交通局/東京メトロ/相模鉄道/京王電鉄</a:t>
            </a:r>
            <a:endParaRPr sz="1500"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9" name="Google Shape;69;g3ece0054ac0_0_246"/>
          <p:cNvSpPr txBox="1"/>
          <p:nvPr/>
        </p:nvSpPr>
        <p:spPr>
          <a:xfrm>
            <a:off x="12021075" y="2873600"/>
            <a:ext cx="3890100" cy="230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MS PGothic"/>
                <a:ea typeface="MS PGothic"/>
                <a:cs typeface="MS PGothic"/>
                <a:sym typeface="MS PGothic"/>
              </a:rPr>
              <a:t>①乗降者数</a:t>
            </a:r>
            <a:endParaRPr sz="2400">
              <a:solidFill>
                <a:srgbClr val="000000"/>
              </a:solidFill>
              <a:latin typeface="MS PGothic"/>
              <a:ea typeface="MS PGothic"/>
              <a:cs typeface="MS PGothic"/>
              <a:sym typeface="MS P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MS PGothic"/>
                <a:ea typeface="MS PGothic"/>
                <a:cs typeface="MS PGothic"/>
                <a:sym typeface="MS PGothic"/>
              </a:rPr>
              <a:t>②人口（実績・将来推計）</a:t>
            </a:r>
            <a:endParaRPr sz="2400">
              <a:solidFill>
                <a:srgbClr val="000000"/>
              </a:solidFill>
              <a:latin typeface="MS PGothic"/>
              <a:ea typeface="MS PGothic"/>
              <a:cs typeface="MS PGothic"/>
              <a:sym typeface="MS P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MS PGothic"/>
                <a:ea typeface="MS PGothic"/>
                <a:cs typeface="MS PGothic"/>
                <a:sym typeface="MS PGothic"/>
              </a:rPr>
              <a:t>③地価</a:t>
            </a:r>
            <a:endParaRPr sz="2400">
              <a:solidFill>
                <a:srgbClr val="000000"/>
              </a:solidFill>
              <a:latin typeface="MS PGothic"/>
              <a:ea typeface="MS PGothic"/>
              <a:cs typeface="MS PGothic"/>
              <a:sym typeface="MS P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MS PGothic"/>
                <a:ea typeface="MS PGothic"/>
                <a:cs typeface="MS PGothic"/>
                <a:sym typeface="MS PGothic"/>
              </a:rPr>
              <a:t>④バス停数</a:t>
            </a:r>
            <a:endParaRPr sz="2400">
              <a:solidFill>
                <a:srgbClr val="000000"/>
              </a:solidFill>
              <a:latin typeface="MS PGothic"/>
              <a:ea typeface="MS PGothic"/>
              <a:cs typeface="MS PGothic"/>
              <a:sym typeface="MS P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MS PGothic"/>
                <a:ea typeface="MS PGothic"/>
                <a:cs typeface="MS PGothic"/>
                <a:sym typeface="MS PGothic"/>
              </a:rPr>
              <a:t>⑤事業所数</a:t>
            </a:r>
            <a:endParaRPr sz="2400">
              <a:solidFill>
                <a:srgbClr val="000000"/>
              </a:solidFill>
              <a:latin typeface="MS PGothic"/>
              <a:ea typeface="MS PGothic"/>
              <a:cs typeface="MS PGothic"/>
              <a:sym typeface="MS P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MS PGothic"/>
                <a:ea typeface="MS PGothic"/>
                <a:cs typeface="MS PGothic"/>
                <a:sym typeface="MS PGothic"/>
              </a:rPr>
              <a:t>⑥従業者数</a:t>
            </a:r>
            <a:endParaRPr sz="2400">
              <a:solidFill>
                <a:srgbClr val="000000"/>
              </a:solidFill>
              <a:latin typeface="MS PGothic"/>
              <a:ea typeface="MS PGothic"/>
              <a:cs typeface="MS PGothic"/>
              <a:sym typeface="MS P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ce0054ac0_0_2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ece0054ac0_0_221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AWARD</a:t>
            </a:r>
            <a:endParaRPr b="1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7" name="Google Shape;77;g3ece0054ac0_0_221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公共交通オープンデータチャレンジ2024にて入賞（INIAD賞）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8" name="Google Shape;78;g3ece0054ac0_0_221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ce0054ac0_0_221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ece0054ac0_0_22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g3ece0054ac0_0_221"/>
          <p:cNvSpPr/>
          <p:nvPr/>
        </p:nvSpPr>
        <p:spPr>
          <a:xfrm>
            <a:off x="1047750" y="9641672"/>
            <a:ext cx="4400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87A"/>
              </a:buClr>
              <a:buSzPts val="1725"/>
              <a:buFont typeface="Courier New"/>
              <a:buNone/>
            </a:pPr>
            <a:r>
              <a:rPr b="1" i="0" lang="en-US" sz="2025" u="none" cap="none" strike="noStrike">
                <a:solidFill>
                  <a:srgbClr val="46587A"/>
                </a:solidFill>
                <a:latin typeface="Noto Sans JP"/>
                <a:ea typeface="Noto Sans JP"/>
                <a:cs typeface="Noto Sans JP"/>
                <a:sym typeface="Noto Sans JP"/>
              </a:rPr>
              <a:t>Station Area Database Map</a:t>
            </a:r>
            <a:endParaRPr b="1" i="0" sz="20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descr="屋内, 天井, 部屋, モニター が含まれている画像&#10;&#10;AI によって生成されたコンテンツは間違っている可能性があります。" id="82" name="Google Shape;82;g3ece0054ac0_0_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726" y="3277307"/>
            <a:ext cx="6242350" cy="4153825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5400000" dist="285750">
              <a:srgbClr val="0B3D91">
                <a:alpha val="40000"/>
              </a:srgbClr>
            </a:outerShdw>
          </a:effectLst>
        </p:spPr>
      </p:pic>
      <p:pic>
        <p:nvPicPr>
          <p:cNvPr descr="スーツを着た男性グループの写真&#10;&#10;AI によって生成されたコンテンツは間違っている可能性があります。" id="83" name="Google Shape;83;g3ece0054ac0_0_2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3924" y="3277305"/>
            <a:ext cx="6242350" cy="4153848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5400000" dist="285750">
              <a:srgbClr val="0B3D91">
                <a:alpha val="40000"/>
              </a:srgbClr>
            </a:outerShdw>
          </a:effectLst>
        </p:spPr>
      </p:pic>
      <p:sp>
        <p:nvSpPr>
          <p:cNvPr id="84" name="Google Shape;84;g3ece0054ac0_0_221"/>
          <p:cNvSpPr/>
          <p:nvPr/>
        </p:nvSpPr>
        <p:spPr>
          <a:xfrm>
            <a:off x="1307525" y="7840000"/>
            <a:ext cx="151488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主催：公共交通オープンデータ協議会、国土交通省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特別協力：JR東日本、東京都等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協力：鉄道、バス、航空、フェリー、シェアサイクル（約３００の自治体や事業者）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5" name="Google Shape;85;g3ece0054ac0_0_221"/>
          <p:cNvSpPr/>
          <p:nvPr/>
        </p:nvSpPr>
        <p:spPr>
          <a:xfrm>
            <a:off x="1047750" y="2493025"/>
            <a:ext cx="165303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公共交通オープンデータを活用したオープンイノベーションのためのアプリケーション・コンテスト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6" name="Google Shape;86;g3ece0054ac0_0_221"/>
          <p:cNvSpPr/>
          <p:nvPr/>
        </p:nvSpPr>
        <p:spPr>
          <a:xfrm>
            <a:off x="11562750" y="7779010"/>
            <a:ext cx="5677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https://challenge2024.odpt.org/award</a:t>
            </a:r>
            <a:endParaRPr sz="24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a0a7af665_0_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a0a7af665_0_0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PRODUCT</a:t>
            </a:r>
            <a:endParaRPr b="1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4" name="Google Shape;94;g3ea0a7af665_0_0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作りたい物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5" name="Google Shape;95;g3ea0a7af665_0_0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a0a7af665_0_0"/>
          <p:cNvSpPr/>
          <p:nvPr/>
        </p:nvSpPr>
        <p:spPr>
          <a:xfrm>
            <a:off x="1047750" y="2904325"/>
            <a:ext cx="15236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■ 元々の思い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7" name="Google Shape;97;g3ea0a7af665_0_0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a0a7af665_0_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g3ea0a7af665_0_0"/>
          <p:cNvSpPr/>
          <p:nvPr/>
        </p:nvSpPr>
        <p:spPr>
          <a:xfrm>
            <a:off x="1047750" y="9641672"/>
            <a:ext cx="4400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87A"/>
              </a:buClr>
              <a:buSzPts val="1725"/>
              <a:buFont typeface="Courier New"/>
              <a:buNone/>
            </a:pPr>
            <a:r>
              <a:rPr b="1" i="0" lang="en-US" sz="2025" u="none" cap="none" strike="noStrike">
                <a:solidFill>
                  <a:srgbClr val="46587A"/>
                </a:solidFill>
                <a:latin typeface="Noto Sans JP"/>
                <a:ea typeface="Noto Sans JP"/>
                <a:cs typeface="Noto Sans JP"/>
                <a:sym typeface="Noto Sans JP"/>
              </a:rPr>
              <a:t>Station Area Database Map</a:t>
            </a:r>
            <a:endParaRPr b="1" i="0" sz="20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0" name="Google Shape;100;g3ea0a7af665_0_0"/>
          <p:cNvSpPr/>
          <p:nvPr/>
        </p:nvSpPr>
        <p:spPr>
          <a:xfrm>
            <a:off x="1962151" y="4489000"/>
            <a:ext cx="75195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（業務）新幹線駅の周辺の状況把握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（個人）私自身の住宅購入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1" name="Google Shape;101;g3ea0a7af665_0_0"/>
          <p:cNvSpPr/>
          <p:nvPr/>
        </p:nvSpPr>
        <p:spPr>
          <a:xfrm>
            <a:off x="1517436" y="3656700"/>
            <a:ext cx="15236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合理的な判断をするため、PDCAをまわすために、データを使う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（鉄道会社・大企業の反動も）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2" name="Google Shape;102;g3ea0a7af665_0_0"/>
          <p:cNvSpPr/>
          <p:nvPr/>
        </p:nvSpPr>
        <p:spPr>
          <a:xfrm>
            <a:off x="1047750" y="6326182"/>
            <a:ext cx="15236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■ BootCamp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参加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の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動機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3" name="Google Shape;103;g3ea0a7af665_0_0"/>
          <p:cNvSpPr/>
          <p:nvPr/>
        </p:nvSpPr>
        <p:spPr>
          <a:xfrm>
            <a:off x="1566375" y="7096249"/>
            <a:ext cx="12044700" cy="20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データベース×生成AI、AIネイティブなアプリの実装方法を学びたい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開発したStation Area Database Mapをより使えるアプリにしたい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成長できる環境・コミュニティ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a0a7af665_0_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a0a7af665_0_21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GOAL</a:t>
            </a:r>
            <a:endParaRPr b="1" sz="1800">
              <a:solidFill>
                <a:srgbClr val="1E54B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1" name="Google Shape;111;g3ea0a7af665_0_21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目標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2" name="Google Shape;112;g3ea0a7af665_0_21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a0a7af665_0_21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a0a7af665_0_2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g3ea0a7af665_0_21"/>
          <p:cNvSpPr/>
          <p:nvPr/>
        </p:nvSpPr>
        <p:spPr>
          <a:xfrm>
            <a:off x="1047750" y="9641672"/>
            <a:ext cx="4400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87A"/>
              </a:buClr>
              <a:buSzPts val="1725"/>
              <a:buFont typeface="Courier New"/>
              <a:buNone/>
            </a:pPr>
            <a:r>
              <a:rPr b="1" i="0" lang="en-US" sz="2025" u="none" cap="none" strike="noStrike">
                <a:solidFill>
                  <a:srgbClr val="46587A"/>
                </a:solidFill>
                <a:latin typeface="Noto Sans JP"/>
                <a:ea typeface="Noto Sans JP"/>
                <a:cs typeface="Noto Sans JP"/>
                <a:sym typeface="Noto Sans JP"/>
              </a:rPr>
              <a:t>Station Area Database Map</a:t>
            </a:r>
            <a:endParaRPr b="1" i="0" sz="20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6" name="Google Shape;116;g3ea0a7af665_0_21"/>
          <p:cNvSpPr/>
          <p:nvPr/>
        </p:nvSpPr>
        <p:spPr>
          <a:xfrm>
            <a:off x="1471775" y="3757275"/>
            <a:ext cx="16678200" cy="57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①  </a:t>
            </a:r>
            <a:r>
              <a:rPr lang="en-US" sz="2800" u="sng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現在のStation Area Database Mapの更新</a:t>
            </a:r>
            <a:endParaRPr sz="2800" u="sng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       ・　オープンデータの時点更新、データのクオリティチェック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②  </a:t>
            </a:r>
            <a:r>
              <a:rPr lang="en-US" sz="2800" u="sng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ビジネスロジック付きデータベース、生成AIの実装</a:t>
            </a:r>
            <a:endParaRPr sz="2800" u="sng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       ・　任意なデータの抽出、グラフの可視化、マップへの反映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       ・　（例）JR</a:t>
            </a:r>
            <a:r>
              <a:rPr lang="en-US" sz="26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の駅において、人口は増加しているが、乗降者数が減少している駅をグラフ/マップに表示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③  （実現可能性を並行して調査）中古マンションの売買データ機能の追加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       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・　中古マンションの住所（緯度経度）、マンション名、築年数のデータベースの整備が必要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       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・　サイト・サービスの規約がネック、データ購入は費用が掛かる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7" name="Google Shape;117;g3ea0a7af665_0_21"/>
          <p:cNvSpPr/>
          <p:nvPr/>
        </p:nvSpPr>
        <p:spPr>
          <a:xfrm>
            <a:off x="1047750" y="2904325"/>
            <a:ext cx="152367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３か月で以下①②を実装して、Webアプリをリリース</a:t>
            </a:r>
            <a:endParaRPr sz="32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ece0054ac0_0_128" title="Series-N700a-Mt.Fuj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872" y="0"/>
            <a:ext cx="15434255" cy="10286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ce0054ac0_0_1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ce0054ac0_0_162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FEATURE</a:t>
            </a:r>
            <a:endParaRPr b="1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1" name="Google Shape;131;g3ece0054ac0_0_162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① 各駅周辺のオープンデータを一括表示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2" name="Google Shape;132;g3ece0054ac0_0_162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ce0054ac0_0_162"/>
          <p:cNvSpPr/>
          <p:nvPr/>
        </p:nvSpPr>
        <p:spPr>
          <a:xfrm>
            <a:off x="1047750" y="2904325"/>
            <a:ext cx="60093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駅マーカーをクリックすると、駅周辺のオープンデータの年別推移のグラフや運行事業者名、路線名を表示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一目で駅周辺のデータを把握可能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4" name="Google Shape;134;g3ece0054ac0_0_162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ce0054ac0_0_16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グラフィカル ユーザー インターフェイス, グラフ&#10;&#10;自動的に生成された説明" id="136" name="Google Shape;136;g3ece0054ac0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636" y="2861030"/>
            <a:ext cx="10563774" cy="5164513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5400000" dist="285750">
              <a:srgbClr val="0B3D91">
                <a:alpha val="40000"/>
              </a:srgbClr>
            </a:outerShdw>
          </a:effectLst>
        </p:spPr>
      </p:pic>
      <p:sp>
        <p:nvSpPr>
          <p:cNvPr id="137" name="Google Shape;137;g3ece0054ac0_0_162"/>
          <p:cNvSpPr/>
          <p:nvPr/>
        </p:nvSpPr>
        <p:spPr>
          <a:xfrm>
            <a:off x="1047750" y="8589711"/>
            <a:ext cx="654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725"/>
              <a:buFont typeface="Arial"/>
              <a:buNone/>
            </a:pPr>
            <a:r>
              <a:rPr i="0" lang="en-US" sz="2425" u="none" cap="none" strike="noStrike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半径 1・2・5・10km を切り替えて表示</a:t>
            </a:r>
            <a:r>
              <a:rPr lang="en-US" sz="2425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可能</a:t>
            </a:r>
            <a:endParaRPr i="0" sz="24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8" name="Google Shape;138;g3ece0054ac0_0_162"/>
          <p:cNvSpPr/>
          <p:nvPr/>
        </p:nvSpPr>
        <p:spPr>
          <a:xfrm>
            <a:off x="1047750" y="9641672"/>
            <a:ext cx="4400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87A"/>
              </a:buClr>
              <a:buSzPts val="1725"/>
              <a:buFont typeface="Courier New"/>
              <a:buNone/>
            </a:pPr>
            <a:r>
              <a:rPr b="1" i="0" lang="en-US" sz="2025" u="none" cap="none" strike="noStrike">
                <a:solidFill>
                  <a:srgbClr val="46587A"/>
                </a:solidFill>
                <a:latin typeface="Noto Sans JP"/>
                <a:ea typeface="Noto Sans JP"/>
                <a:cs typeface="Noto Sans JP"/>
                <a:sym typeface="Noto Sans JP"/>
              </a:rPr>
              <a:t>Station Area Database Map</a:t>
            </a:r>
            <a:endParaRPr b="1" i="0" sz="20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ce0054ac0_0_19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ce0054ac0_0_192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FEATURE</a:t>
            </a:r>
            <a:endParaRPr b="1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6" name="Google Shape;146;g3ece0054ac0_0_192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②</a:t>
            </a: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ランキング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7" name="Google Shape;147;g3ece0054ac0_0_192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ce0054ac0_0_192"/>
          <p:cNvSpPr/>
          <p:nvPr/>
        </p:nvSpPr>
        <p:spPr>
          <a:xfrm>
            <a:off x="1047750" y="2904325"/>
            <a:ext cx="60093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都道府県、データを選択して、ランキング（上位・下位２０位）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例えば、「地価が高い駅」、「乗降者数の増加率が高い駅」など必要なデータの出力が可能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9" name="Google Shape;149;g3ece0054ac0_0_192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ce0054ac0_0_19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3ece0054ac0_0_192"/>
          <p:cNvSpPr/>
          <p:nvPr/>
        </p:nvSpPr>
        <p:spPr>
          <a:xfrm>
            <a:off x="1047750" y="9641672"/>
            <a:ext cx="4400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87A"/>
              </a:buClr>
              <a:buSzPts val="1725"/>
              <a:buFont typeface="Courier New"/>
              <a:buNone/>
            </a:pPr>
            <a:r>
              <a:rPr b="1" i="0" lang="en-US" sz="2025" u="none" cap="none" strike="noStrike">
                <a:solidFill>
                  <a:srgbClr val="46587A"/>
                </a:solidFill>
                <a:latin typeface="Noto Sans JP"/>
                <a:ea typeface="Noto Sans JP"/>
                <a:cs typeface="Noto Sans JP"/>
                <a:sym typeface="Noto Sans JP"/>
              </a:rPr>
              <a:t>Station Area Database Map</a:t>
            </a:r>
            <a:endParaRPr b="1" i="0" sz="20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descr="グラフィカル ユーザー インターフェイス, アプリケーション, テーブル&#10;&#10;自動的に生成された説明" id="152" name="Google Shape;152;g3ece0054ac0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4889" y="2882677"/>
            <a:ext cx="10603876" cy="5213575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5400000" dist="285750">
              <a:srgbClr val="0B3D91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ce0054ac0_0_20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ce0054ac0_0_207"/>
          <p:cNvSpPr/>
          <p:nvPr/>
        </p:nvSpPr>
        <p:spPr>
          <a:xfrm>
            <a:off x="1047750" y="857252"/>
            <a:ext cx="16678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4B7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E54B7"/>
                </a:solidFill>
                <a:latin typeface="Noto Sans JP"/>
                <a:ea typeface="Noto Sans JP"/>
                <a:cs typeface="Noto Sans JP"/>
                <a:sym typeface="Noto Sans JP"/>
              </a:rPr>
              <a:t>FEATURE</a:t>
            </a:r>
            <a:endParaRPr b="1" i="0" sz="18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0" name="Google Shape;160;g3ece0054ac0_0_207"/>
          <p:cNvSpPr/>
          <p:nvPr/>
        </p:nvSpPr>
        <p:spPr>
          <a:xfrm>
            <a:off x="1047750" y="1300164"/>
            <a:ext cx="16678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4500"/>
              <a:buFont typeface="Georgia"/>
              <a:buNone/>
            </a:pP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③</a:t>
            </a: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45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rPr>
              <a:t>増減率のグラフ</a:t>
            </a:r>
            <a:endParaRPr i="0" sz="4500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1" name="Google Shape;161;g3ece0054ac0_0_207"/>
          <p:cNvSpPr/>
          <p:nvPr/>
        </p:nvSpPr>
        <p:spPr>
          <a:xfrm>
            <a:off x="1047750" y="2130699"/>
            <a:ext cx="914400" cy="47700"/>
          </a:xfrm>
          <a:prstGeom prst="roundRect">
            <a:avLst>
              <a:gd fmla="val 50000" name="adj"/>
            </a:avLst>
          </a:prstGeom>
          <a:solidFill>
            <a:srgbClr val="0B3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ece0054ac0_0_207"/>
          <p:cNvSpPr/>
          <p:nvPr/>
        </p:nvSpPr>
        <p:spPr>
          <a:xfrm>
            <a:off x="1047750" y="2904325"/>
            <a:ext cx="6009300" cy="4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都道府県、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横軸、縦軸のデータ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を選択して</a:t>
            </a: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グラフを表示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-406400" lvl="0" marL="457200" marR="0" rtl="0"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15233D"/>
              </a:buClr>
              <a:buSzPts val="2800"/>
              <a:buFont typeface="Noto Sans JP"/>
              <a:buChar char="●"/>
            </a:pPr>
            <a:r>
              <a:rPr lang="en-US" sz="2800">
                <a:solidFill>
                  <a:srgbClr val="15233D"/>
                </a:solidFill>
                <a:latin typeface="Noto Sans JP"/>
                <a:ea typeface="Noto Sans JP"/>
                <a:cs typeface="Noto Sans JP"/>
                <a:sym typeface="Noto Sans JP"/>
              </a:rPr>
              <a:t>各駅を４つのグループにクラスタリングして可視化し、多様な切り口で、各駅の相対的な傾向や差異を把握することが可能</a:t>
            </a:r>
            <a:endParaRPr sz="2800">
              <a:solidFill>
                <a:srgbClr val="15233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3" name="Google Shape;163;g3ece0054ac0_0_207"/>
          <p:cNvSpPr/>
          <p:nvPr/>
        </p:nvSpPr>
        <p:spPr>
          <a:xfrm>
            <a:off x="1047750" y="9463088"/>
            <a:ext cx="16192500" cy="9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ce0054ac0_0_20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g3ece0054ac0_0_207"/>
          <p:cNvSpPr/>
          <p:nvPr/>
        </p:nvSpPr>
        <p:spPr>
          <a:xfrm>
            <a:off x="1047750" y="9641672"/>
            <a:ext cx="4400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87A"/>
              </a:buClr>
              <a:buSzPts val="1725"/>
              <a:buFont typeface="Courier New"/>
              <a:buNone/>
            </a:pPr>
            <a:r>
              <a:rPr b="1" i="0" lang="en-US" sz="2025" u="none" cap="none" strike="noStrike">
                <a:solidFill>
                  <a:srgbClr val="46587A"/>
                </a:solidFill>
                <a:latin typeface="Noto Sans JP"/>
                <a:ea typeface="Noto Sans JP"/>
                <a:cs typeface="Noto Sans JP"/>
                <a:sym typeface="Noto Sans JP"/>
              </a:rPr>
              <a:t>Station Area Database Map</a:t>
            </a:r>
            <a:endParaRPr b="1" i="0" sz="2025" u="none" cap="none" strike="noStrike">
              <a:solidFill>
                <a:schemeClr val="dk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descr="グラフ, 散布図&#10;&#10;自動的に生成された説明" id="166" name="Google Shape;166;g3ece0054ac0_0_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3600" y="2904325"/>
            <a:ext cx="10559150" cy="5213575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5400000" dist="285750">
              <a:srgbClr val="0B3D91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2026-06-03T13:39:50Z</dcterms:created>
  <dc:creator>PptxGenJS</dc:creator>
</cp:coreProperties>
</file>